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4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· 중간보고서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이음 · K-Link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국민대에서 시작하는 외국인 유학생 생활지원 플랫폼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 → 생활 → 문화 체험 → 직업·진로를 잇다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C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  이음   |   원성희 · 우명숙 · 박은영 · 김수경 · 이주성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DC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kookminstudy.pages.dev</a:t>
            </a:r>
            <a:endParaRPr lang="en-US" sz="1400" dirty="0"/>
          </a:p>
        </p:txBody>
      </p:sp>
      <p:sp>
        <p:nvSpPr>
          <p:cNvPr id="6" name="pill"/>
          <p:cNvSpPr/>
          <p:nvPr/>
        </p:nvSpPr>
        <p:spPr>
          <a:xfrm>
            <a:off x="8686800" y="1097280"/>
            <a:ext cx="2926080" cy="960120"/>
          </a:xfrm>
          <a:prstGeom prst="roundRect">
            <a:avLst>
              <a:gd name="adj" fmla="val 9524"/>
            </a:avLst>
          </a:prstGeom>
          <a:solidFill>
            <a:srgbClr val="37548F"/>
          </a:solidFill>
          <a:ln w="12700">
            <a:solidFill>
              <a:srgbClr val="3754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0" y="10972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정착·생활·진로 정보가 끊겨 있음</a:t>
            </a:r>
            <a:endParaRPr lang="en-US" sz="1400" dirty="0"/>
          </a:p>
        </p:txBody>
      </p:sp>
      <p:sp>
        <p:nvSpPr>
          <p:cNvPr id="8" name="pill"/>
          <p:cNvSpPr/>
          <p:nvPr/>
        </p:nvSpPr>
        <p:spPr>
          <a:xfrm>
            <a:off x="8686800" y="2286000"/>
            <a:ext cx="2926080" cy="960120"/>
          </a:xfrm>
          <a:prstGeom prst="roundRect">
            <a:avLst>
              <a:gd name="adj" fmla="val 9524"/>
            </a:avLst>
          </a:prstGeom>
          <a:solidFill>
            <a:srgbClr val="37548F"/>
          </a:solidFill>
          <a:ln w="12700">
            <a:solidFill>
              <a:srgbClr val="3754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22860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 + K-LIFE CAREER</a:t>
            </a:r>
            <a:endParaRPr lang="en-US" sz="1400" dirty="0"/>
          </a:p>
        </p:txBody>
      </p:sp>
      <p:sp>
        <p:nvSpPr>
          <p:cNvPr id="10" name="pill"/>
          <p:cNvSpPr/>
          <p:nvPr/>
        </p:nvSpPr>
        <p:spPr>
          <a:xfrm>
            <a:off x="8686800" y="3474720"/>
            <a:ext cx="2926080" cy="960120"/>
          </a:xfrm>
          <a:prstGeom prst="roundRect">
            <a:avLst>
              <a:gd name="adj" fmla="val 9524"/>
            </a:avLst>
          </a:prstGeom>
          <a:solidFill>
            <a:srgbClr val="37548F"/>
          </a:solidFill>
          <a:ln w="12700">
            <a:solidFill>
              <a:srgbClr val="3754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34747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패키지·렌탈·구독·체험비</a:t>
            </a:r>
            <a:endParaRPr lang="en-US" sz="1400" dirty="0"/>
          </a:p>
        </p:txBody>
      </p:sp>
      <p:sp>
        <p:nvSpPr>
          <p:cNvPr id="12" name="pill"/>
          <p:cNvSpPr/>
          <p:nvPr/>
        </p:nvSpPr>
        <p:spPr>
          <a:xfrm>
            <a:off x="8686800" y="4663440"/>
            <a:ext cx="2926080" cy="960120"/>
          </a:xfrm>
          <a:prstGeom prst="roundRect">
            <a:avLst>
              <a:gd name="adj" fmla="val 9524"/>
            </a:avLst>
          </a:prstGeom>
          <a:solidFill>
            <a:srgbClr val="37548F"/>
          </a:solidFill>
          <a:ln w="12700">
            <a:solidFill>
              <a:srgbClr val="3754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46634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W9~11 시범 운영 MVP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팀의 역량 분석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역량을 팀 단위로 합쳐 '우리 팀만 할 수 있는 것'을 찾습니다. (RBV: 가치 있고 희소하며 모방 어려운 자원)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ea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2194560"/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경력·산업 도메인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기능역량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보유 네트워크·자원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접근 가능한 고객 집단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원성희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구매물류 20년, 국민대 교직원 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물류, 구매, 경영기획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물류·석유화학 관계자 100명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소상공인 100명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우명숙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패션디자이너 14년, 라이브커머스 셀러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의류 마케팅, 의류 디자인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의류 판매 관계사 30곳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SNS(유튜브) 구독자 2,000명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박은영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콘텐츠마케팅·영상 15년, 게임 공동 창업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마케팅, 디자인, 데이터 AI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국내외 대학 학술·교육 네트워크 30곳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대학생·유학생·글로벌 학부모 그룹 100여 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수입차 부품 MD, 대형 프랜차이즈 카페 매장관리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고객관리, SNS, 리서치, 마케팅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 거래처 20~30곳, SNS(스레드·인스타그램) 다수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 팔로워 1,600명 외 / 회사·업체 50곳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이주성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창업 커뮤니티 운영, SNS 마케터, 한일 커뮤니티 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마케팅, 바이브코딩, 기획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한일 유학생 커뮤니티 200~300명, 국민대 커뮤니티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일본 유학생 및 지방 유학생, 학교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480060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8920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종합 강점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소싱(물류·구매) → 홍보(마케팅·SNS) → 구현(AI·웹) → 현장 운영을 한 팀이 직접 이어 갈 수 있음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교직원 경험과 한일 유학생 커뮤니티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26480" y="48006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4892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역량과 보완 방안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다국어(베트남어·중국어·몽골어) → 국제교류팀·서포터즈 감수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강사·현직자 → 기업·교육기관 제휴로 보완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역량을 기반으로 도출된 아이디어들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MON(Market Opportunity Navigator) 1단계: 팀 역량 × 대학원(GSGE) 자산에서 출발한 아이디어 목록 (W5 워크숍 결과)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ide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3108960"/>
                <a:gridCol w="201168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아이디어명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활용한 팀 역량·GSGE 자산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 고객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 설명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홍보물품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디자인, 마케팅 홍보, 판매, 물류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홍보물품 관계자에게 고가·저가 신규 디자인제품을 개발하여 판매한다.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조형대생 작품 판매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온라인 홍보·판매 채널 제작 구축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조형대생의 우수한 작품을 온라인 판로로 신규 개설을 지원한다.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 생활/학습 지원 서비스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국제교류팀 네트워크, 팀원 개인의 언어·대인 능력, 외국인학생과의 면담을 통한 관련 자료 수집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외국인학생 및 해당 외국인 학부모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외국인학생의 주거, 교육서비스 관련 개선 point를 찾아 지원한다. (교재 공구, 렌탈, 구매 및 한국어 튜터링)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외국인학부모 안심 서비스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국제교류팀 네트워크, 팀원 개인의 언어·대인 능력, 외국인학생과의 면담을 통한 관련 자료 수집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외국인학생 및 해당 외국인 학부모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외국인학생들의 학부모에게 자녀들이 매일 한국 강의실 입장 시 현지 부모에게 위치를 안내하도록 안심 서비스를 제공한다.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3번은 국제교류팀 네트워크와 팀원의 대학·유학생 접점으로 접근이 쉽고, 4번은 같은 고객군의 확장이라 3번에 통합했습니다. 1·2번은 저작권·품질·판매 실현이 어려워 보류했습니다.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아이디어의 평가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 2단계 매력도 맵: 잠재력(Potential)과 도전(Challenge)으로 평가해 Gold Mine · Quick Win · Moon Shot · Questionable로 분류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quad"/>
          <p:cNvSpPr/>
          <p:nvPr/>
        </p:nvSpPr>
        <p:spPr>
          <a:xfrm>
            <a:off x="1005840" y="1600200"/>
            <a:ext cx="2468880" cy="1783080"/>
          </a:xfrm>
          <a:prstGeom prst="rect">
            <a:avLst/>
          </a:prstGeom>
          <a:solidFill>
            <a:srgbClr val="F3F1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1691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Moon Shot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잠재력 · 높은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국민대 홍보물품 제작</a:t>
            </a:r>
            <a:endParaRPr lang="en-US" sz="1600" dirty="0"/>
          </a:p>
        </p:txBody>
      </p:sp>
      <p:sp>
        <p:nvSpPr>
          <p:cNvPr id="10" name="quad"/>
          <p:cNvSpPr/>
          <p:nvPr/>
        </p:nvSpPr>
        <p:spPr>
          <a:xfrm>
            <a:off x="3474720" y="1600200"/>
            <a:ext cx="2468880" cy="1783080"/>
          </a:xfrm>
          <a:prstGeom prst="rect">
            <a:avLst/>
          </a:prstGeom>
          <a:solidFill>
            <a:srgbClr val="C9A2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691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 Mine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잠재력 · 낮은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외국인학생 생활·학습 지원 서비스</a:t>
            </a:r>
            <a:endParaRPr lang="en-US" sz="1600" dirty="0"/>
          </a:p>
        </p:txBody>
      </p:sp>
      <p:sp>
        <p:nvSpPr>
          <p:cNvPr id="12" name="quad"/>
          <p:cNvSpPr/>
          <p:nvPr/>
        </p:nvSpPr>
        <p:spPr>
          <a:xfrm>
            <a:off x="1005840" y="3383280"/>
            <a:ext cx="2468880" cy="1783080"/>
          </a:xfrm>
          <a:prstGeom prst="rect">
            <a:avLst/>
          </a:prstGeom>
          <a:solidFill>
            <a:srgbClr val="F3F1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4747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Questionable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잠재력 · 높은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조형대생 작품 판매</a:t>
            </a:r>
            <a:endParaRPr lang="en-US" sz="1600" dirty="0"/>
          </a:p>
        </p:txBody>
      </p:sp>
      <p:sp>
        <p:nvSpPr>
          <p:cNvPr id="14" name="quad"/>
          <p:cNvSpPr/>
          <p:nvPr/>
        </p:nvSpPr>
        <p:spPr>
          <a:xfrm>
            <a:off x="3474720" y="3383280"/>
            <a:ext cx="2468880" cy="1783080"/>
          </a:xfrm>
          <a:prstGeom prst="rect">
            <a:avLst/>
          </a:prstGeom>
          <a:solidFill>
            <a:srgbClr val="F3F1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4747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Quick Win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잠재력 · 낮은 도전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외국인학부모 안심 서비스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 rot="16200000">
            <a:off x="411480" y="28346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 ↑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도전(어려움)        낮음 →</a:t>
            </a:r>
            <a:endParaRPr lang="en-US" sz="1200" dirty="0"/>
          </a:p>
        </p:txBody>
      </p:sp>
      <p:graphicFrame>
        <p:nvGraphicFramePr>
          <p:cNvPr id="5" name="sco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5212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잠재력(1~5)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도전(1~5)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Moon Shot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Questionable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Gold Mine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Quick Win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ard"/>
          <p:cNvSpPr/>
          <p:nvPr/>
        </p:nvSpPr>
        <p:spPr>
          <a:xfrm>
            <a:off x="6400800" y="393192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402336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기준과 근거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 = 시장 규모(국민대 외국인 유학생에서 시작해 전국 확장)·수익성·대학원 기여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= 실행 난이도·자원·시간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근거: 현장 인터뷰(10/18, 3명), AI 리서치 검증, 교재 Ch.3 워크시트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아이디어의 결정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 3단계 Agile Focus: 하나에 집중하되, 보류(Backup)·성장(Growth) 옵션을 남겨 둡니다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focus"/>
          <p:cNvSpPr/>
          <p:nvPr/>
        </p:nvSpPr>
        <p:spPr>
          <a:xfrm>
            <a:off x="548640" y="150876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2B4478"/>
          </a:solidFill>
          <a:ln w="12700">
            <a:solidFill>
              <a:srgbClr val="2B44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4592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아이디어 (Primary Focus)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외국인학생 생활·학습·진로 지원 'K-Link'</a:t>
            </a:r>
            <a:endParaRPr lang="en-US" sz="13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D5DC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외국인 유학생의 정착·생활을 먼저 돕고(K-Link), 한국 문화 체험을 직업 탐색과 진로로 잇는(K-LIFE CAREER) 서비스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7406640" y="150876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160020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이유 (3가지)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적합성: 소싱·마케팅·AI웹·유학생 커뮤니티가 직접 쓰임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매력도: 잠재력 5 / 도전 3 → Gold Mine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대학원 연계: GSGE의 사업모델 설계·검증 역량 활용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114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Backup 옵션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문화·직업 체험 운영 부담이 크면 K-Link 생활지원(정착 패키지·렌탈·가족 안심)만 단독 운영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4297680" y="402336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4114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Growth 옵션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성공하면 전국 외국인 유학생으로 확장, 기업·교육기관과 직업 체험·인턴 연계 확대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46720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4114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보류·탈락 아이디어와 이유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홍보물품: 저작권·품질, 판매 실현 어려움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조형대생 작품: 잠재력 낮고 도전 높음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아이디어의 방향 전환 및 구체화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Week 6 진단(대학원이 실제로 할 수 있는 사업인가)과 아이디어 팀별 논의를 거쳐 무엇이 어떻게 바뀌었는지, 그 이유를 적습니다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pivo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조정 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Before (초기 아이디어)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After (현재)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이유·근거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타깃 고객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학생 및 교직원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외국인 학생과 해외 학부모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홍보물품 저작권·품질·판매 실현 접근이 난해함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제공 가치·핵심 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차별화·고급화·브랜드화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정착·생활 지원 + 문화 체험 → 직업 탐색 → 진로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 대상 비즈니스화 가능성이 높고, 생활 문제가 해결돼야 진로로 확장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 방식·채널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SNS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모바일 웹(K-Link), SNS, 유학생 커뮤니티, 유학원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현지 외국인 대상으로 SNS·커뮤니티·유학원이 적합할 것으로 판단됨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국민대 대외협력팀 대상 판매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패키지·렌탈·제휴·구독·체험 참가비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 후 상담으로 가격을 확정하는 시범 운영으로 지불 의향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 역할·자산 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F7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 주문 기반 초기 시제품 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교내 유학생 접점 연계, GSGE 사업모델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유학생 접점이 곧 고객 접점이라 MVP 검증 비용이 낮음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5029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1206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변하지 않은 핵심 (Pivot의 축)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안에서 소외되기 쉬운 외국인 유학생에게 정보와 연결을 준다는 고객 문제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126480" y="50292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검증 안 된 핵심 가설 (→ W9~12 MVP)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체험·패키지에 돈을 낼지, 학생이 가족 안심 공유를 받아들일지, 체험이 직업 탐색으로 이어질지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Business Concept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 교재(FastTrac) 기준: 제품/서비스 · 고객 · 혜택 · 유통(전달 방식) 4요소가 한 문단에 들어가야 합니다.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bcsBox"/>
          <p:cNvSpPr/>
          <p:nvPr/>
        </p:nvSpPr>
        <p:spPr>
          <a:xfrm>
            <a:off x="548640" y="150876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3F1EA"/>
          </a:solidFill>
          <a:ln w="12700">
            <a:solidFill>
              <a:srgbClr val="F3F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이음 팀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외국인 유학생과 해외 학부모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에게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정착·생활 지원, 학습 지원, 가족 안심 케어, 문화·직업 체험(K-LIFE CAREER)을 한곳에 모은 생활지원 플랫폼 K-Link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제공합니다.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이를 통해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장벽 없는 초기 정착, 교재·가전 비용 절감, 학생이 통제하는 가족 안심, 문화 체험에서 직업·진로까지 이어지는 성장 기회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얻습니다.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웹(kookminstudy.pages.dev)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제공하며, 기존 대학 프로그램·포털과 달리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한 번으로 제휴 서비스까지 연결하고 문화 체험을 직업 탐색 단계로 잇는 구조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차별점입니다.</a:t>
            </a:r>
            <a:endParaRPr lang="en-US" sz="1500" dirty="0"/>
          </a:p>
        </p:txBody>
      </p:sp>
      <p:sp>
        <p:nvSpPr>
          <p:cNvPr id="10" name="bcsCol"/>
          <p:cNvSpPr/>
          <p:nvPr/>
        </p:nvSpPr>
        <p:spPr>
          <a:xfrm>
            <a:off x="54864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/ 서비스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/ Service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 지원 서비스(정착 패키지, 학기 렌탈, 생활 도우미, 학습, 가족 안심 케어)와 K-LIFE CAREER 문화·직업 체험</a:t>
            </a:r>
            <a:endParaRPr lang="en-US" sz="1600" dirty="0"/>
          </a:p>
        </p:txBody>
      </p:sp>
      <p:sp>
        <p:nvSpPr>
          <p:cNvPr id="12" name="bcsCol"/>
          <p:cNvSpPr/>
          <p:nvPr/>
        </p:nvSpPr>
        <p:spPr>
          <a:xfrm>
            <a:off x="333756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1차: 국민대 외국인 유학생과 해외 학부모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확장: 전국 외국인 유학생</a:t>
            </a:r>
            <a:endParaRPr lang="en-US" sz="1600" dirty="0"/>
          </a:p>
        </p:txBody>
      </p:sp>
      <p:sp>
        <p:nvSpPr>
          <p:cNvPr id="14" name="bcsCol"/>
          <p:cNvSpPr/>
          <p:nvPr/>
        </p:nvSpPr>
        <p:spPr>
          <a:xfrm>
            <a:off x="612648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혜택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 시간·비용 절감(교재 10~20% 할인, 보증금 없는 렌탈), 가족 안심, 진로 탐색 기회</a:t>
            </a:r>
            <a:endParaRPr lang="en-US" sz="1600" dirty="0"/>
          </a:p>
        </p:txBody>
      </p:sp>
      <p:sp>
        <p:nvSpPr>
          <p:cNvPr id="16" name="bcsCol"/>
          <p:cNvSpPr/>
          <p:nvPr/>
        </p:nvSpPr>
        <p:spPr>
          <a:xfrm>
            <a:off x="8915400" y="361188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70332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 / 전달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Distribution</a:t>
            </a:r>
            <a:endParaRPr lang="en-US" sz="16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웹, 캠퍼스 QR, 유학생 커뮤니티·SNS, 신청 후 상담으로 범위·가격 확정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Business Concept 설명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BCS의 각 요소를 근거와 함께 풀어 씁니다.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54864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고객과 문제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고객: 국민대 외국인 유학생(진로를 아직 정하지 않은 학생 포함)과 본국 학부모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입국 직후 ARC·통신·기숙사 등 정착 과제가 몰리고, 교재·가전 비용과 언어 장벽이 큼. 한국 문화에 관심이 있어도 직업·진로로 이어질 기회는 제한적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현장 인터뷰(10/18, 3명), AI 리서치, 교재 Ch.3 워크시트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172200" y="1463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제품/서비스와 혜택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 패키지(eSIM+공항 픽업+생필품 키트), 학기 렌탈, 생활 도우미, 학습(전공책·공동구매·선배 렌탈), 가족 안심 케어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K-LIFE CAREER: K-뷰티·푸드·패션·콘텐츠 문화 체험 → 관련 직업 소개·현직자 멘토링 → 실무 체험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혜택: 정착 시간 단축, 교재 10~20% 할인, 보증금 없는 렌탈, 진로 탐색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23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전달 방식과 수익 모델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운영: 서비스 신청 → 상담으로 범위·가격 확정 → 결제 → 도착 전후 진행(홈 피드에서 확인)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수익: 패키지 79,000원, 생활가전 월 24,900원, 가족 안심 월 19,000원, 문화 체험 1회 2만~5만 원, 제휴 수수료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채널: 모바일 웹, 캠퍼스 QR, 유학생 커뮤니티·SNS, 교내 협력 채널(협의 필요)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72200" y="39319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023360"/>
            <a:ext cx="5166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차별점과 대학원(GSGE) 연계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대안(대학 문화 교류, 취업 지원 교육, 개별 문화·직업 체험)은 따로 움직임. 이음은 생활 → 체험 → 직업 → 진로를 단계별로 연결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GSGE 연계: 창업·사업모델 설계 역량으로 국민대 유학생 대상 사업성을 검증, 교내 유관부서·기업과 협력 가능성 모색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기치: 진로가 정해진 학생뿐 아니라 아직 찾지 못한 학생에게도 가능성을 발견할 기회를 제공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 지원 서비스와 가격 (시범 운영)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사이트(kookminstudy.pages.dev) 기준. 가격은 예시이며 신청 후 상담으로 범위·가격을 확정하고, 신청만으로는 비용이 발생하지 않습니다.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sv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457200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정착 패키지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정착 지원 패키지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eSIM 요금제 비교·개통 예약 + 인천공항→숙소 픽업 + 생필품 키트, 외국인등록 예약·서류 체크, 첫 2주 다국어 채팅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79,000원 / 1회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학기 렌탈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학기 생활가전 세트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소형 냉장고 + 전자레인지 + 침구, 설치·회수, 무상 교체, 보증금 없음, 최소 4개월, 귀국 장터 연계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24,900원 / 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도우미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은행·통신 동행 / 외국인등록 서류 / 이사·입주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한국인 학생 도우미 동행 2시간, 예약·서류 체크·출입국사무소 동행, 짐 옮기기·가구 조립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25,000 / 30,000 / 35,000원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서비스 (제휴)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티머니, 통역·동행, eSIM, 짐 보관·이사, 냉장고·책상·침구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제휴 업체가 제공하고 K-Link가 연결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티머니 5,000원+충전액, 통역 29,000원, eSIM 19,000원, 짐 보관 49,000원~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(시범)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전공책 찾아드려요 / 교재 공동구매 / 선배 교재 렌탈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학과·과목만 알려주면 최저가 구매 대행, 같은 수업 유학생끼리 공동구매, 같은 나라 선배 교재 대여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교재 1권 3,000원+책값 / 정가 10~20% 할인 / 학기당 5,000원~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안심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안심 케어 구독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도착·안부 알림을 부모님 언어로 전달, 긴급 에스코트·통역, 학생이 고른 항목만 주 1회 공유, 언제든 중지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19,000원 / 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문화·직업 (신규)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K-LIFE CAREER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K-뷰티·푸드·패션·콘텐츠 문화 체험 → 직업 소개·현직자 멘토링 → 심화 직업 체험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 체험 2만~5만 원 / 1회, 심화는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여정과 이용 흐름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전부터 진로까지, 한 번 가입한 학생이 다음 단계로 이어지도록 설계합니다.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tage"/>
          <p:cNvSpPr/>
          <p:nvPr/>
        </p:nvSpPr>
        <p:spPr>
          <a:xfrm>
            <a:off x="54864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도착·정착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 체크리스트(ARC, eSIM 개통, 기숙사 입실), 초기 정착 패키지, 외국인등록 마감 알림</a:t>
            </a:r>
            <a:endParaRPr lang="en-US" sz="1700" dirty="0"/>
          </a:p>
        </p:txBody>
      </p:sp>
      <p:sp>
        <p:nvSpPr>
          <p:cNvPr id="10" name="stage"/>
          <p:cNvSpPr/>
          <p:nvPr/>
        </p:nvSpPr>
        <p:spPr>
          <a:xfrm>
            <a:off x="333756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생활·학습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렌탈, 생활 도우미, 전공책 찾기, 교재 공동구매·선배 렌탈, 의료·보험 안내</a:t>
            </a:r>
            <a:endParaRPr lang="en-US" sz="1700" dirty="0"/>
          </a:p>
        </p:txBody>
      </p:sp>
      <p:sp>
        <p:nvSpPr>
          <p:cNvPr id="12" name="stage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문화·직업 체험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K-LIFE CAREER 문화 체험 → 관심 분야 발견 → 직업 소개·현직자 멘토링</a:t>
            </a:r>
            <a:endParaRPr lang="en-US" sz="1700" dirty="0"/>
          </a:p>
        </p:txBody>
      </p:sp>
      <p:sp>
        <p:nvSpPr>
          <p:cNvPr id="14" name="stage"/>
          <p:cNvSpPr/>
          <p:nvPr/>
        </p:nvSpPr>
        <p:spPr>
          <a:xfrm>
            <a:off x="891540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3F1EA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16459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진로·성장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체험, 기업·교육기관 연계, 귀국 장터·후배에게 이어주기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0690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신청하면 이렇게 진행돼요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서비스 고르기: 필요한 것만 선택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상담 후 결제: 범위·가격 확정 뒤 결제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4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도착 전후 진행: 진행 상황은 홈 피드에서 확인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126480" y="3977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40690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 원칙 (프라이버시)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고른 항목만 주 1회 부모님께 공유, 언제든 중지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위치·게시판·상담 기록은 공유하지 않음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서류 대리 제출은 하지 않고 안내·동행만 제공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의료·보험 범위는 학교 단체보험 약관에 따라 국제처 확인 안내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모델 캔버스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K-Link의 가치가 어떻게 만들어지고 전달되며 돈이 되는지 한눈에 정리합니다. (원가·수량은 MVP 검증 전 가정치)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bmc"/>
          <p:cNvSpPr/>
          <p:nvPr/>
        </p:nvSpPr>
        <p:spPr>
          <a:xfrm>
            <a:off x="548640" y="1463040"/>
            <a:ext cx="2176272" cy="297180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파트너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국민대 국제교류팀·GSGE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통신사(eSIM)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가전·침구 렌탈 업체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이사·통역 업체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기업·교육기관(체험)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유학원, 서포터즈</a:t>
            </a:r>
            <a:endParaRPr lang="en-US" sz="1400" dirty="0"/>
          </a:p>
        </p:txBody>
      </p:sp>
      <p:sp>
        <p:nvSpPr>
          <p:cNvPr id="10" name="bmc"/>
          <p:cNvSpPr/>
          <p:nvPr/>
        </p:nvSpPr>
        <p:spPr>
          <a:xfrm>
            <a:off x="2770632" y="1463040"/>
            <a:ext cx="2176272" cy="146304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2072" y="152704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활동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웹·시범 운영, 제휴 영업, 도우미 운영, 체험 기획, 번역·감수</a:t>
            </a:r>
            <a:endParaRPr lang="en-US" sz="1400" dirty="0"/>
          </a:p>
        </p:txBody>
      </p:sp>
      <p:sp>
        <p:nvSpPr>
          <p:cNvPr id="12" name="bmc"/>
          <p:cNvSpPr/>
          <p:nvPr/>
        </p:nvSpPr>
        <p:spPr>
          <a:xfrm>
            <a:off x="2770632" y="2971800"/>
            <a:ext cx="2176272" cy="146304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62072" y="303580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자원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K-Link 웹, 다국어 콘텐츠, 소싱·유통 네트워크, 유학생 커뮤니티</a:t>
            </a:r>
            <a:endParaRPr lang="en-US" sz="1400" dirty="0"/>
          </a:p>
        </p:txBody>
      </p:sp>
      <p:sp>
        <p:nvSpPr>
          <p:cNvPr id="14" name="bmc"/>
          <p:cNvSpPr/>
          <p:nvPr/>
        </p:nvSpPr>
        <p:spPr>
          <a:xfrm>
            <a:off x="4992624" y="1463040"/>
            <a:ext cx="2176272" cy="2971800"/>
          </a:xfrm>
          <a:prstGeom prst="rect">
            <a:avLst/>
          </a:prstGeom>
          <a:solidFill>
            <a:srgbClr val="C9A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제안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학생: 도착부터 진로까지 한곳에서 해결, 보증금 없는 렌탈·교재 할인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학부모: 학생이 통제하는 안심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제휴처·기업: 검증된 유학생 고객</a:t>
            </a:r>
            <a:endParaRPr lang="en-US" sz="1400" dirty="0"/>
          </a:p>
        </p:txBody>
      </p:sp>
      <p:sp>
        <p:nvSpPr>
          <p:cNvPr id="16" name="bmc"/>
          <p:cNvSpPr/>
          <p:nvPr/>
        </p:nvSpPr>
        <p:spPr>
          <a:xfrm>
            <a:off x="7214616" y="1463040"/>
            <a:ext cx="2176272" cy="146304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6056" y="152704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관계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후 상담, 홈 피드 진행 확인, 다국어 채팅</a:t>
            </a:r>
            <a:endParaRPr lang="en-US" sz="1400" dirty="0"/>
          </a:p>
        </p:txBody>
      </p:sp>
      <p:sp>
        <p:nvSpPr>
          <p:cNvPr id="18" name="bmc"/>
          <p:cNvSpPr/>
          <p:nvPr/>
        </p:nvSpPr>
        <p:spPr>
          <a:xfrm>
            <a:off x="7214616" y="2971800"/>
            <a:ext cx="2176272" cy="146304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06056" y="3035808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웹, 캠퍼스 QR, 유학생 커뮤니티·SNS, 유학원</a:t>
            </a:r>
            <a:endParaRPr lang="en-US" sz="1400" dirty="0"/>
          </a:p>
        </p:txBody>
      </p:sp>
      <p:sp>
        <p:nvSpPr>
          <p:cNvPr id="20" name="bmc"/>
          <p:cNvSpPr/>
          <p:nvPr/>
        </p:nvSpPr>
        <p:spPr>
          <a:xfrm>
            <a:off x="9436608" y="1463040"/>
            <a:ext cx="2176272" cy="2971800"/>
          </a:xfrm>
          <a:prstGeom prst="rect">
            <a:avLst/>
          </a:prstGeom>
          <a:solidFill>
            <a:srgbClr val="F3F1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28048" y="1527048"/>
            <a:ext cx="199339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세그먼트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국민대 외국인 유학생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해외 학부모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귀국 예정 유학생(중고 공급)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제휴처·기업</a:t>
            </a:r>
            <a:endParaRPr lang="en-US" sz="1400" dirty="0"/>
          </a:p>
        </p:txBody>
      </p:sp>
      <p:sp>
        <p:nvSpPr>
          <p:cNvPr id="22" name="bmc"/>
          <p:cNvSpPr/>
          <p:nvPr/>
        </p:nvSpPr>
        <p:spPr>
          <a:xfrm>
            <a:off x="548640" y="4480560"/>
            <a:ext cx="4398264" cy="1312164"/>
          </a:xfrm>
          <a:prstGeom prst="rect">
            <a:avLst/>
          </a:prstGeom>
          <a:solidFill>
            <a:srgbClr val="E7E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44568"/>
            <a:ext cx="4215384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도메인·호스팅(월 수만 원 이하), 번역·감수, 홍보물, 패키지·키트 소싱 원가, 렌탈 재고, 체험 운영비, PG 수수료</a:t>
            </a:r>
            <a:endParaRPr lang="en-US" sz="1400" dirty="0"/>
          </a:p>
        </p:txBody>
      </p:sp>
      <p:sp>
        <p:nvSpPr>
          <p:cNvPr id="24" name="bmc"/>
          <p:cNvSpPr/>
          <p:nvPr/>
        </p:nvSpPr>
        <p:spPr>
          <a:xfrm>
            <a:off x="4992624" y="4480560"/>
            <a:ext cx="6620256" cy="1312164"/>
          </a:xfrm>
          <a:prstGeom prst="rect">
            <a:avLst/>
          </a:prstGeom>
          <a:solidFill>
            <a:srgbClr val="E7E3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84064" y="4544568"/>
            <a:ext cx="643737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수익원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정착 패키지 79,000원  ② 생활가전 월 24,900원  ③ 가족 안심 월 19,000원  ④ 생활 서비스·도우미 수수료  ⑤ 학습(교재 대행·렌탈)  ⑥ 문화 체험 2~5만 원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모델과 단위 경제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가격은 사이트의 시범 가격, 원가·수수료율은 가정치입니다. 1차 목표는 수익보다 지불 의향과 신뢰 확보입니다.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rev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원가·수수료 가정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단위당 이익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4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정착 패키지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79,000원 / 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원가 55,000원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24,000원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학기 생활가전 세트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24,900원 × 4개월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제휴 원가 70%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30,000원 / 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서비스·도우미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25,000원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제휴 수수료 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3,750원 / 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안심 구독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19,000원 / 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원가 30%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13,300원 / 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학습(교재 대행·렌탈)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3,000~5,000원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대행·렌탈 수수료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3,000~5,000원 / 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문화 체험 (K-LIFE CAREER)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30,000원 × 12명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운영비 20만 원 / 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16만 원 / 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tat"/>
          <p:cNvSpPr/>
          <p:nvPr/>
        </p:nvSpPr>
        <p:spPr>
          <a:xfrm>
            <a:off x="8321040" y="150876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2B4478"/>
          </a:solidFill>
          <a:ln w="12700">
            <a:solidFill>
              <a:srgbClr val="2B44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16459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2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이익 시나리오 (가정)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820만 원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200" dirty="0">
                <a:solidFill>
                  <a:srgbClr val="D5DC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100건 + 가전 40세트 + 생활 서비스 300건 + 구독 20명 × 6개월 + 문화 체험 12회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577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손익분기와 리스크</a:t>
            </a:r>
            <a:endParaRPr lang="en-US" sz="15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고정비가 작아 패키지 약 10건 또는 구독 약 10명이면 연 고정비를 회수합니다. 재고·렌탈 회수와 학생의 공유 거부감은 제휴 렌탈, 기본값 꺼짐 공유로 대응합니다.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단계와 피드백 요청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 이후 W9~12 MVP 검증으로 넘어가기 위해, 지금 팀이 가장 확인하고 싶은 것을 적습니다.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PEV-1 중간보고서 · 팀명: 이음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검증할 핵심 가설 (우선순위 3개)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고객: 진로가 정해지지 않은 유학생도 한국 문화 체험에 참여할 의향이 있다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가치: 문화 체험에 직업 소개·실무 체험을 결합하면 직무 탐색 의향이 높아진다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지불: 유학생은 체험·패키지에 비용을 내고, 일부는 후속 직업 체험에 참여한다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26480" y="146304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554480"/>
            <a:ext cx="5212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검증 계획 (초안)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국민대 외국인 유학생 20~30명 설문, 학부모 약 30명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1차: K-뷰티 또는 K-콘텐츠 유료 문화 체험 1회 / 2차: 희망자 직업 체험 제공 / 웹: 서비스별 신청 클릭(CTR) 추적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KPI: 유료 참가 8명↑, 후속 직업 체험 신청 30%↑, 서비스 신청 전환 20%↑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14800"/>
            <a:ext cx="5212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 동료들에게 받고 싶은 피드백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유학생이 체험 프로그램에 비용을 낼 의향이 있을까? 적절한 참가비는?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 체험을 직업 체험과 연결하는 방식이 기존 문화·진로 프로그램과 충분히 차별화되는가?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30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생활지원(패키지·렌탈)과 체험 중 어느 쪽을 먼저 키워야 할까?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12648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3F1EA"/>
          </a:solidFill>
          <a:ln w="9525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4114800"/>
            <a:ext cx="5212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4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운영 회고 (간단히)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점: 경력이 겹치지 않아 분업이 쉽고, 시범 운영 웹을 빠르게 실체화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점: 다국어 번역 범위, 결제 연동 일정, 인터뷰 표본(3명)이 작음</a:t>
            </a:r>
            <a:endParaRPr lang="en-US" sz="1500" dirty="0"/>
          </a:p>
          <a:p>
            <a:pPr marL="342900" indent="-342900">
              <a:spcBef>
                <a:spcPts val="400"/>
              </a:spcBef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조정(W9~): 웹·시범 운영, 현장 인터뷰, 제휴·소싱 단가 조사로 실행 중심 분업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PEV-1 중간보고서 · 이음 K-Link</dc:title>
  <dc:subject>PptxGenJS Presentation</dc:subject>
  <dc:creator>PptxGenJS</dc:creator>
  <cp:lastModifiedBy>PptxGenJS</cp:lastModifiedBy>
  <cp:revision>1</cp:revision>
  <dcterms:created xsi:type="dcterms:W3CDTF">2026-10-28T11:52:37Z</dcterms:created>
  <dcterms:modified xsi:type="dcterms:W3CDTF">2026-10-28T11:52:37Z</dcterms:modified>
</cp:coreProperties>
</file>