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4E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A0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PEV-1 · 중간보고서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K-Link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346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국민대 외국인 유학생과 해외 학부모를 위한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정착·생활 지원 + 가족 안심 공유 웹 플랫폼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120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팀명  북악오룡이   |   원성희 · 우명숙 · 박은영 · 김수경 · 이주성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FE0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kookminstudy.pages.dev</a:t>
            </a:r>
            <a:endParaRPr lang="en-US" sz="1400" dirty="0"/>
          </a:p>
        </p:txBody>
      </p:sp>
      <p:sp>
        <p:nvSpPr>
          <p:cNvPr id="6" name="pill"/>
          <p:cNvSpPr/>
          <p:nvPr/>
        </p:nvSpPr>
        <p:spPr>
          <a:xfrm>
            <a:off x="8686800" y="1097280"/>
            <a:ext cx="2834640" cy="960120"/>
          </a:xfrm>
          <a:prstGeom prst="roundRect">
            <a:avLst>
              <a:gd name="adj" fmla="val 9524"/>
            </a:avLst>
          </a:prstGeom>
          <a:solidFill>
            <a:srgbClr val="1D6073"/>
          </a:solidFill>
          <a:ln w="12700">
            <a:solidFill>
              <a:srgbClr val="1D607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0" y="109728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0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정착·생활 정보가 흩어짐</a:t>
            </a:r>
            <a:endParaRPr lang="en-US" sz="1400" dirty="0"/>
          </a:p>
        </p:txBody>
      </p:sp>
      <p:sp>
        <p:nvSpPr>
          <p:cNvPr id="8" name="pill"/>
          <p:cNvSpPr/>
          <p:nvPr/>
        </p:nvSpPr>
        <p:spPr>
          <a:xfrm>
            <a:off x="8686800" y="2286000"/>
            <a:ext cx="2834640" cy="960120"/>
          </a:xfrm>
          <a:prstGeom prst="roundRect">
            <a:avLst>
              <a:gd name="adj" fmla="val 9524"/>
            </a:avLst>
          </a:prstGeom>
          <a:solidFill>
            <a:srgbClr val="1D6073"/>
          </a:solidFill>
          <a:ln w="12700">
            <a:solidFill>
              <a:srgbClr val="1D607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869680" y="228600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0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K-Link 3대 모듈</a:t>
            </a:r>
            <a:endParaRPr lang="en-US" sz="1400" dirty="0"/>
          </a:p>
        </p:txBody>
      </p:sp>
      <p:sp>
        <p:nvSpPr>
          <p:cNvPr id="10" name="pill"/>
          <p:cNvSpPr/>
          <p:nvPr/>
        </p:nvSpPr>
        <p:spPr>
          <a:xfrm>
            <a:off x="8686800" y="3474720"/>
            <a:ext cx="2834640" cy="960120"/>
          </a:xfrm>
          <a:prstGeom prst="roundRect">
            <a:avLst>
              <a:gd name="adj" fmla="val 9524"/>
            </a:avLst>
          </a:prstGeom>
          <a:solidFill>
            <a:srgbClr val="1D6073"/>
          </a:solidFill>
          <a:ln w="12700">
            <a:solidFill>
              <a:srgbClr val="1D607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869680" y="347472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0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제휴·패키지·구독</a:t>
            </a:r>
            <a:endParaRPr lang="en-US" sz="1400" dirty="0"/>
          </a:p>
        </p:txBody>
      </p:sp>
      <p:sp>
        <p:nvSpPr>
          <p:cNvPr id="12" name="pill"/>
          <p:cNvSpPr/>
          <p:nvPr/>
        </p:nvSpPr>
        <p:spPr>
          <a:xfrm>
            <a:off x="8686800" y="4663440"/>
            <a:ext cx="2834640" cy="960120"/>
          </a:xfrm>
          <a:prstGeom prst="roundRect">
            <a:avLst>
              <a:gd name="adj" fmla="val 9524"/>
            </a:avLst>
          </a:prstGeom>
          <a:solidFill>
            <a:srgbClr val="1D6073"/>
          </a:solidFill>
          <a:ln w="12700">
            <a:solidFill>
              <a:srgbClr val="1D607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69680" y="466344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0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W9~11 MVP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6576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4E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팀의 역량 분석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0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역량을 팀 단위로 합쳐 '우리 팀만 할 수 있는 것'을 찾습니다. (RBV: 가치 있고 희소하며 모방 어려운 자원)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0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PEV-1 중간보고서 · 팀명: 북악오룡이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0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graphicFrame>
        <p:nvGraphicFramePr>
          <p:cNvPr id="3" name="team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017520"/>
                <a:gridCol w="2194560"/>
                <a:gridCol w="2651760"/>
                <a:gridCol w="2103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팀원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경력·산업 도메인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핵심 기능역량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보유 네트워크·자원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접근 가능한 고객 집단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5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원성희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구매물류 20년, 국민대 교직원 2년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물류, 구매, 경영기획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물류·석유화학 관계자 100명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소상공인 100명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우명숙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패션디자이너 14년, 라이브커머스 셀러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의류 마케팅, 의류 디자인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의류 판매 관계사 30곳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SNS(유튜브) 구독자 2,000명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박은영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콘텐츠마케팅·영상 15년, 게임 공동 창업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마케팅, 디자인, 데이터 AI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국내외 대학 학술·교육 네트워크 30곳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대학생·유학생·글로벌 학부모 그룹 100여 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김수경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수입차 부품 MD, 대형 프랜차이즈 카페 매장관리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고객관리, SNS, 리서치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카페·프랜차이즈 점주·매장 네트워크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SNS 채널(수치 확인 필요)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이주성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유통 12년, 프랜차이즈 운영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AI, MVP(랜딩)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협회 회원사 30곳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소상공인 200명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card"/>
          <p:cNvSpPr/>
          <p:nvPr/>
        </p:nvSpPr>
        <p:spPr>
          <a:xfrm>
            <a:off x="548640" y="466344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EEF3F5"/>
          </a:solidFill>
          <a:ln w="9525">
            <a:solidFill>
              <a:srgbClr val="C9D6D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475488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4E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종합 강점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소싱(물류·구매) → 홍보(마케팅) → 구현(AI·웹) → 현장 운영(유통)을 한 팀이 직접 이어 갈 수 있음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국민대 교직원 경험과 유학생 접점</a:t>
            </a:r>
            <a:endParaRPr 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6126480" y="4663440"/>
            <a:ext cx="5486400" cy="1600200"/>
          </a:xfrm>
          <a:prstGeom prst="roundRect">
            <a:avLst>
              <a:gd name="adj" fmla="val 4571"/>
            </a:avLst>
          </a:prstGeom>
          <a:solidFill>
            <a:srgbClr val="EEF3F5"/>
          </a:solidFill>
          <a:ln w="9525">
            <a:solidFill>
              <a:srgbClr val="C9D6D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63640" y="4754880"/>
            <a:ext cx="5212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4E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부족한 역량과 보완 방안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다국어(베트남어·중국어·몽골어) → 국제교류팀·서포터즈 감수, AI 번역 병행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결제(PG)·개발 심화 → 노코드 MVP, 가상 결제로 수요 먼저 검증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6576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4E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역량을 기반으로 도출된 아이디어들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0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MON(Market Opportunity Navigator) 1단계: 팀 역량 × 대학원(GSGE) 자산에서 출발한 아이디어 목록 (W5 워크숍 결과)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0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PEV-1 중간보고서 · 팀명: 북악오룡이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0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graphicFrame>
        <p:nvGraphicFramePr>
          <p:cNvPr id="4" name="idea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103120"/>
                <a:gridCol w="3108960"/>
                <a:gridCol w="201168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No.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아이디어명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활용한 팀 역량·GSGE 자산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타깃 고객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 줄 설명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5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국민대 홍보물품 개발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제품 디자인, 마케팅 홍보, 판매, 물류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국민대 학생 및 교직원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홍보물품 관계자에게 고가·저가 신규 디자인제품을 개발하여 판매한다.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국민대 조형대생 작품 판매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온라인 홍보·판매 채널 제작 구축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국민대 학생 및 교직원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조형대생의 우수한 작품을 온라인 판로로 신규 개설을 지원한다.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외국인학생 생활/학습 지원 서비스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국제교류팀 네트워크, 팀원 개인의 언어·대인 능력, 외국인학생과의 면담을 통한 관련 자료 수집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국민대 외국인학생 및 해당 외국인 학부모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외국인학생의 주거, 교육서비스 관련 개선 point를 찾아 지원한다. (교재 공구, 렌탈, 구매 및 한국어 튜터링)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외국인학부모 안심 서비스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국제교류팀 네트워크, 팀원 개인의 언어·대인 능력, 외국인학생과의 면담을 통한 관련 자료 수집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국민대 외국인학생 및 해당 외국인 학부모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외국인학생들의 학부모에게 자녀들이 매일 한국 강의실 입장 시 현지 부모에게 위치를 안내하도록 안심 서비스를 제공한다.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card"/>
          <p:cNvSpPr/>
          <p:nvPr/>
        </p:nvSpPr>
        <p:spPr>
          <a:xfrm>
            <a:off x="548640" y="544068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EEF3F5"/>
          </a:solidFill>
          <a:ln w="9525">
            <a:solidFill>
              <a:srgbClr val="C9D6D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55321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4E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선정 근거</a:t>
            </a:r>
            <a:endParaRPr lang="en-US" sz="15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3번은 박은영의 대학 네트워크·AI 웹 역량과 원성희의 교직원 경험으로 접근이 쉽고, 4번은 같은 고객군의 확장이라 3번에 통합했습니다. 1·2번은 저작권·품질·판매 실현이 어려워 보류했습니다.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6576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4E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아이디어의 평가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0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MON 2단계 매력도 맵: 잠재력(Potential)과 도전(Challenge)으로 평가해 Gold Mine · Quick Win · Moon Shot · Questionable로 분류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0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PEV-1 중간보고서 · 팀명: 북악오룡이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0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quad"/>
          <p:cNvSpPr/>
          <p:nvPr/>
        </p:nvSpPr>
        <p:spPr>
          <a:xfrm>
            <a:off x="1005840" y="1600200"/>
            <a:ext cx="2468880" cy="1783080"/>
          </a:xfrm>
          <a:prstGeom prst="rect">
            <a:avLst/>
          </a:prstGeom>
          <a:solidFill>
            <a:srgbClr val="EEF3F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169164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4E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Moon Shot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F70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높은 잠재력 · 높은 도전</a:t>
            </a: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국민대 홍보물품 제작</a:t>
            </a:r>
            <a:endParaRPr lang="en-US" sz="1600" dirty="0"/>
          </a:p>
        </p:txBody>
      </p:sp>
      <p:sp>
        <p:nvSpPr>
          <p:cNvPr id="10" name="quad"/>
          <p:cNvSpPr/>
          <p:nvPr/>
        </p:nvSpPr>
        <p:spPr>
          <a:xfrm>
            <a:off x="3474720" y="1600200"/>
            <a:ext cx="2468880" cy="1783080"/>
          </a:xfrm>
          <a:prstGeom prst="rect">
            <a:avLst/>
          </a:prstGeom>
          <a:solidFill>
            <a:srgbClr val="E0A0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11880" y="169164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Gold Mine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높은 잠재력 · 낮은 도전</a:t>
            </a: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외국인학생 생활·학습 지원 서비스</a:t>
            </a:r>
            <a:endParaRPr lang="en-US" sz="1600" dirty="0"/>
          </a:p>
        </p:txBody>
      </p:sp>
      <p:sp>
        <p:nvSpPr>
          <p:cNvPr id="12" name="quad"/>
          <p:cNvSpPr/>
          <p:nvPr/>
        </p:nvSpPr>
        <p:spPr>
          <a:xfrm>
            <a:off x="1005840" y="3383280"/>
            <a:ext cx="2468880" cy="1783080"/>
          </a:xfrm>
          <a:prstGeom prst="rect">
            <a:avLst/>
          </a:prstGeom>
          <a:solidFill>
            <a:srgbClr val="EEF3F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43000" y="347472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4E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Questionable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F70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낮은 잠재력 · 높은 도전</a:t>
            </a: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조형대생 작품 판매</a:t>
            </a:r>
            <a:endParaRPr lang="en-US" sz="1600" dirty="0"/>
          </a:p>
        </p:txBody>
      </p:sp>
      <p:sp>
        <p:nvSpPr>
          <p:cNvPr id="14" name="quad"/>
          <p:cNvSpPr/>
          <p:nvPr/>
        </p:nvSpPr>
        <p:spPr>
          <a:xfrm>
            <a:off x="3474720" y="3383280"/>
            <a:ext cx="2468880" cy="1783080"/>
          </a:xfrm>
          <a:prstGeom prst="rect">
            <a:avLst/>
          </a:prstGeom>
          <a:solidFill>
            <a:srgbClr val="EEF3F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11880" y="347472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4E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Quick Win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F70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낮은 잠재력 · 낮은 도전</a:t>
            </a: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외국인학부모 안심 서비스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 rot="16200000">
            <a:off x="411480" y="283464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70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잠재력 ↑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5212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70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← 도전(어려움)        낮음 →</a:t>
            </a:r>
            <a:endParaRPr lang="en-US" sz="1200" dirty="0"/>
          </a:p>
        </p:txBody>
      </p:sp>
      <p:graphicFrame>
        <p:nvGraphicFramePr>
          <p:cNvPr id="5" name="score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600200"/>
          <a:ext cx="52120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463040"/>
                <a:gridCol w="1463040"/>
                <a:gridCol w="15544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No.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잠재력(1~5)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도전(1~5)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분류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Moon Shot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Questionable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Gold Mine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Quick Win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card"/>
          <p:cNvSpPr/>
          <p:nvPr/>
        </p:nvSpPr>
        <p:spPr>
          <a:xfrm>
            <a:off x="6400800" y="3931920"/>
            <a:ext cx="5212080" cy="2057400"/>
          </a:xfrm>
          <a:prstGeom prst="roundRect">
            <a:avLst>
              <a:gd name="adj" fmla="val 3556"/>
            </a:avLst>
          </a:prstGeom>
          <a:solidFill>
            <a:srgbClr val="EEF3F5"/>
          </a:solidFill>
          <a:ln w="9525">
            <a:solidFill>
              <a:srgbClr val="C9D6D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537960" y="4023360"/>
            <a:ext cx="49377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4E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기준과 근거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잠재력 = 시장 규모(국민대 외국인 유학생 약 2,000명에서 시작)·수익성·대학원 기여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도전 = 실행 난이도·자원·시간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 근거: 현장 인터뷰(10/18, 3명), AI 리서치 검증, 교재 Ch.3 워크시트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6576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4E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아이디어의 결정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0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MON 3단계 Agile Focus: 하나에 집중하되, 보류(Backup)·성장(Growth) 옵션을 남겨 둡니다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0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PEV-1 중간보고서 · 팀명: 북악오룡이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0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focus"/>
          <p:cNvSpPr/>
          <p:nvPr/>
        </p:nvSpPr>
        <p:spPr>
          <a:xfrm>
            <a:off x="548640" y="1508760"/>
            <a:ext cx="6675120" cy="2286000"/>
          </a:xfrm>
          <a:prstGeom prst="roundRect">
            <a:avLst>
              <a:gd name="adj" fmla="val 3200"/>
            </a:avLst>
          </a:prstGeom>
          <a:solidFill>
            <a:srgbClr val="134E5E"/>
          </a:solidFill>
          <a:ln w="12700">
            <a:solidFill>
              <a:srgbClr val="134E5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645920"/>
            <a:ext cx="6217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0A0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선정 아이디어 (Primary Focus)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외국인학생 정착 지원 서비스 'K-Link'</a:t>
            </a:r>
            <a:endParaRPr lang="en-US" sz="1300" dirty="0"/>
          </a:p>
          <a:p>
            <a:pPr indent="0" marL="0">
              <a:spcBef>
                <a:spcPts val="1000"/>
              </a:spcBef>
              <a:buNone/>
            </a:pPr>
            <a:r>
              <a:rPr lang="en-US" sz="1400" dirty="0">
                <a:solidFill>
                  <a:srgbClr val="D6E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국민대 외국인 유학생과 해외 학부모에게, 실시간 공공데이터로 정착·생활을 돕고 학생이 정한 범위만 가족에게 안부를 알려 주는 웹 서비스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7406640" y="1508760"/>
            <a:ext cx="4206240" cy="2286000"/>
          </a:xfrm>
          <a:prstGeom prst="roundRect">
            <a:avLst>
              <a:gd name="adj" fmla="val 3200"/>
            </a:avLst>
          </a:prstGeom>
          <a:solidFill>
            <a:srgbClr val="EEF3F5"/>
          </a:solidFill>
          <a:ln w="9525">
            <a:solidFill>
              <a:srgbClr val="C9D6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43800" y="1600200"/>
            <a:ext cx="3931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4E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선정 이유 (3가지)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역량 적합성: 마케팅·콘텐츠·AI웹·물류가 직접 쓰임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매력도: 잠재력 5 / 도전 3 → Gold Mine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대학원 연계: GSGE가 실제 사업으로 운영할 수 있는 규모와 접점</a:t>
            </a:r>
            <a:endParaRPr 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548640" y="402336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EEF3F5"/>
          </a:solidFill>
          <a:ln w="9525">
            <a:solidFill>
              <a:srgbClr val="C9D6D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411480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4E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Backup 옵션</a:t>
            </a:r>
            <a:endParaRPr lang="en-US" sz="15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학부모 안심 서비스(Quick Win)를 단독 상품으로 전환. 조건: 유학생 가입·사용이 KPI에 못 미칠 때</a:t>
            </a:r>
            <a:endParaRPr lang="en-US" sz="1500" dirty="0"/>
          </a:p>
        </p:txBody>
      </p:sp>
      <p:sp>
        <p:nvSpPr>
          <p:cNvPr id="14" name="card"/>
          <p:cNvSpPr/>
          <p:nvPr/>
        </p:nvSpPr>
        <p:spPr>
          <a:xfrm>
            <a:off x="4297680" y="402336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EEF3F5"/>
          </a:solidFill>
          <a:ln w="9525">
            <a:solidFill>
              <a:srgbClr val="C9D6D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34840" y="411480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4E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Growth 옵션</a:t>
            </a:r>
            <a:endParaRPr lang="en-US" sz="15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성공하면 서울권·전국 거점 국립대로 확장, 입국 오리엔테이션·유학원 B2B 패키지로 확대</a:t>
            </a:r>
            <a:endParaRPr lang="en-US" sz="1500" dirty="0"/>
          </a:p>
        </p:txBody>
      </p:sp>
      <p:sp>
        <p:nvSpPr>
          <p:cNvPr id="16" name="card"/>
          <p:cNvSpPr/>
          <p:nvPr/>
        </p:nvSpPr>
        <p:spPr>
          <a:xfrm>
            <a:off x="8046720" y="402336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EEF3F5"/>
          </a:solidFill>
          <a:ln w="9525">
            <a:solidFill>
              <a:srgbClr val="C9D6D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83880" y="411480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4E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보류·탈락 아이디어와 이유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홍보물품: 저작권·품질, 판매 실현 어려움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조형대생 작품: 잠재력 낮고 도전 높음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6576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4E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아이디어의 방향 전환 및 구체화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0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Week 6 진단(대학원이 실제로 할 수 있는 사업인가)과 아이디어 팀별 논의를 거쳐 무엇이 어떻게 바뀌었는지, 그 이유를 적습니다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0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PEV-1 중간보고서 · 팀명: 북악오룡이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0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7" name="pivot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834640"/>
                <a:gridCol w="2834640"/>
                <a:gridCol w="32918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조정 항목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Before (초기 아이디어)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After (현재)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바뀐 이유·근거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5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타깃 고객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07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국민대 학생 및 교직원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국민대 외국인 학생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홍보물품 저작권·품질·판매 실현 접근이 난해함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제공 가치·핵심 기능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07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디자인 차별화·고급화·브랜드화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한국어·생활 지원 서비스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외국인 대상 비즈니스화 가능성이 높음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전달 방식·채널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07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SNS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SNS, 유학원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현지 외국인 대상으로 SNS와 유학원이 적합할 것으로 판단됨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수익 모델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07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국민대 대외협력팀 대상 판매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외국인 학부모 및 외국인 학생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구독 개념으로 접근 가능한 모델 고려 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대학원 역할·자산 활용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07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대학원 주문 기반 초기 시제품 개발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교내 유학생 접점 연계, GSGE 창업 멘토링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유학생 접점이 곧 고객 접점이라 MVP 검증 비용이 낮음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card"/>
          <p:cNvSpPr/>
          <p:nvPr/>
        </p:nvSpPr>
        <p:spPr>
          <a:xfrm>
            <a:off x="548640" y="475488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EEF3F5"/>
          </a:solidFill>
          <a:ln w="9525">
            <a:solidFill>
              <a:srgbClr val="C9D6D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484632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4E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변하지 않은 핵심 (Pivot의 축)</a:t>
            </a:r>
            <a:endParaRPr lang="en-US" sz="15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대학 안에서 소외되기 쉬운 사람에게 정보와 연결을 준다는 고객 문제는 그대로입니다.</a:t>
            </a:r>
            <a:endParaRPr 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6126480" y="4754880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EEF3F5"/>
          </a:solidFill>
          <a:ln w="9525">
            <a:solidFill>
              <a:srgbClr val="C9D6D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63640" y="484632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4E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 검증 안 된 핵심 가설 (→ W9~12 MVP 검증 대상)</a:t>
            </a:r>
            <a:endParaRPr lang="en-US" sz="15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학생이 Family Link를 받아들일지, 학부모·학생이 실제로 돈을 낼지, 교재·렌탈 거래가 재방문을 만들지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6576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4E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Business Concept Statement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0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PEV 교재(FastTrac) 기준: 제품/서비스 · 고객 · 혜택 · 유통(전달 방식) 4요소가 한 문단에 들어가야 합니다.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0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PEV-1 중간보고서 · 팀명: 북악오룡이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0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bcsBox"/>
          <p:cNvSpPr/>
          <p:nvPr/>
        </p:nvSpPr>
        <p:spPr>
          <a:xfrm>
            <a:off x="548640" y="1508760"/>
            <a:ext cx="11064240" cy="1874520"/>
          </a:xfrm>
          <a:prstGeom prst="roundRect">
            <a:avLst>
              <a:gd name="adj" fmla="val 3902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600200"/>
            <a:ext cx="10607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34E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북악오룡이 팀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34E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국민대 재학 외국인 유학생과 해외 학부모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에게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34E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공공데이터 연계 생활·학습 지원 및 가족 안심 공유 웹 플랫폼 K-Link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제공합니다. 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고객은 이를 통해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34E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 장벽 없는 초기 정착, 교재·자취방 탐색, 귀국 장터·렌탈을 통한 비용 절감, 학생 사생활이 보호되는 가족 안심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얻습니다. 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우리는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34E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 웹(kookminstudy.pages.dev)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 제공하며, 기존 포털과 달리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34E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데이터 기반 즉각 해결, 다국어 지원, 학생 주도형 안부 전달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이라는 차별점이 있습니다.</a:t>
            </a:r>
            <a:endParaRPr lang="en-US" sz="1500" dirty="0"/>
          </a:p>
        </p:txBody>
      </p:sp>
      <p:sp>
        <p:nvSpPr>
          <p:cNvPr id="10" name="bcsCol"/>
          <p:cNvSpPr/>
          <p:nvPr/>
        </p:nvSpPr>
        <p:spPr>
          <a:xfrm>
            <a:off x="548640" y="3611880"/>
            <a:ext cx="265176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C9D6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703320"/>
            <a:ext cx="23774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4E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/ 서비스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E0A0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Product / Service</a:t>
            </a:r>
            <a:endParaRPr lang="en-US" sz="16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2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외국인 유학생·해외 학부모 통합 정착 및 캠퍼스 라이프 플랫폼 K-Link</a:t>
            </a:r>
            <a:endParaRPr lang="en-US" sz="1600" dirty="0"/>
          </a:p>
        </p:txBody>
      </p:sp>
      <p:sp>
        <p:nvSpPr>
          <p:cNvPr id="12" name="bcsCol"/>
          <p:cNvSpPr/>
          <p:nvPr/>
        </p:nvSpPr>
        <p:spPr>
          <a:xfrm>
            <a:off x="3337560" y="3611880"/>
            <a:ext cx="265176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C9D6D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74720" y="3703320"/>
            <a:ext cx="23774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4E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E0A0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Customer</a:t>
            </a:r>
            <a:endParaRPr lang="en-US" sz="16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2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1차: 국민대 재학 외국인 유학생(베트남·중국·몽골 등)과 해외 학부모</a:t>
            </a:r>
            <a:endParaRPr lang="en-US" sz="16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2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확장: 서울권·전국 거점 국립대 유학생</a:t>
            </a:r>
            <a:endParaRPr lang="en-US" sz="1600" dirty="0"/>
          </a:p>
        </p:txBody>
      </p:sp>
      <p:sp>
        <p:nvSpPr>
          <p:cNvPr id="14" name="bcsCol"/>
          <p:cNvSpPr/>
          <p:nvPr/>
        </p:nvSpPr>
        <p:spPr>
          <a:xfrm>
            <a:off x="6126480" y="3611880"/>
            <a:ext cx="265176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C9D6D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3703320"/>
            <a:ext cx="23774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4E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혜택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E0A0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Benefit</a:t>
            </a:r>
            <a:endParaRPr lang="en-US" sz="16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2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정착 탐색 시간 50% 단축, 중고 교재·가구로 정착 비용 40% 이상 절감, 타향살이 고립감 해소</a:t>
            </a:r>
            <a:endParaRPr lang="en-US" sz="1600" dirty="0"/>
          </a:p>
        </p:txBody>
      </p:sp>
      <p:sp>
        <p:nvSpPr>
          <p:cNvPr id="16" name="bcsCol"/>
          <p:cNvSpPr/>
          <p:nvPr/>
        </p:nvSpPr>
        <p:spPr>
          <a:xfrm>
            <a:off x="8915400" y="3611880"/>
            <a:ext cx="265176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C9D6D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52560" y="3703320"/>
            <a:ext cx="23774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4E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유통 / 전달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E0A0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Distribution</a:t>
            </a:r>
            <a:endParaRPr lang="en-US" sz="16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2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노코드 경량 모바일 웹 배포, 입국 오리엔테이션 QR, 5개 언어(한·영·베·중·일) 제공, 몽골어 확대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6576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4E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세부 Business Concept 설명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0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BCS의 각 요소를 근거와 함께 풀어 씁니다.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0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PEV-1 중간보고서 · 팀명: 북악오룡이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0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card"/>
          <p:cNvSpPr/>
          <p:nvPr/>
        </p:nvSpPr>
        <p:spPr>
          <a:xfrm>
            <a:off x="548640" y="146304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EEF3F5"/>
          </a:solidFill>
          <a:ln w="9525">
            <a:solidFill>
              <a:srgbClr val="C9D6D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554480"/>
            <a:ext cx="51663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4E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고객과 문제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5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타깃: 국민대 외국인 유학생 2,000여 명과 본국 학부모(베트남·중국·영어권 외 몽골 등 비주류 언어권 포함)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5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미충족 니즈: 학교 포털은 단순 공지·한국어 위주. 병원·약국·교재·스터디 공간·합법 알바 정보가 분절됨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5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근거: 유학생 현장 피드백 '교재 구매, 스카 안내 등 대학생 특화 기능 필요', '몽골어 등 다국어 확대 필요'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6172200" y="146304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EEF3F5"/>
          </a:solidFill>
          <a:ln w="9525">
            <a:solidFill>
              <a:srgbClr val="C9D6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1554480"/>
            <a:ext cx="51663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4E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제품/서비스와 혜택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5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정착·실시간 생활 케어: 야간·휴일 진료 병원·약국, 외국인 친화 부동산 체크리스트, eSIM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5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가족 안심·세이프 마켓: 졸업생 가구 나눔·렌탈, 학생이 공유 범위를 정하는 Family Link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5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캠퍼스·스터디 라이프: 교재 직거래, 스터디 인프라 맵, 합법 알바 가이드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5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혜택: 정착 탐색 시간 50% 단축, 정착 비용 40% 이상 절감</a:t>
            </a:r>
            <a:endParaRPr 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548640" y="393192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EEF3F5"/>
          </a:solidFill>
          <a:ln w="9525">
            <a:solidFill>
              <a:srgbClr val="C9D6D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4023360"/>
            <a:ext cx="51663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4E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전달 방식과 수익 모델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5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채널: 구글 간편로그인 기반 모바일 웹 + 캠퍼스 포스터 QR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5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Quick Win: 통신사 eSIM 제휴 수수료, 생활용품 제휴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5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Gold Mine: 초기 정착 올인원 패키지(공항 픽업·생필품 키트)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5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Moon Shot: 귀국 장터·렌탈 중개 수수료, 학부모 안심 케어 구독(월 9,900~19,000원)</a:t>
            </a:r>
            <a:endParaRPr lang="en-US" sz="1500" dirty="0"/>
          </a:p>
        </p:txBody>
      </p:sp>
      <p:sp>
        <p:nvSpPr>
          <p:cNvPr id="14" name="card"/>
          <p:cNvSpPr/>
          <p:nvPr/>
        </p:nvSpPr>
        <p:spPr>
          <a:xfrm>
            <a:off x="6172200" y="393192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EEF3F5"/>
          </a:solidFill>
          <a:ln w="9525">
            <a:solidFill>
              <a:srgbClr val="C9D6D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9360" y="4023360"/>
            <a:ext cx="51663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4E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차별점과 대학원(GSGE) 연계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5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대안 대비: 기관 승인 불필요, 경량 웹 배포, 실시간 공공 API 연동, 학생 주도 공유 설계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5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실사업화 역량: 글로벌 물류·구매 네트워크(키트 소싱), 콘텐츠·디자인·AI 웹 빌딩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5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국민대 유학생 접점을 즉시 투입해 최소 비용으로 운영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6576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4E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비즈니스 모델 캔버스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0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K-Link의 가치가 어떻게 만들어지고 전달되며 돈이 되는지 한눈에 정리합니다. (수치는 MVP 검증 전 가정치)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0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PEV-1 중간보고서 · 팀명: 북악오룡이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0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000" dirty="0"/>
          </a:p>
        </p:txBody>
      </p:sp>
      <p:sp>
        <p:nvSpPr>
          <p:cNvPr id="8" name="bmc"/>
          <p:cNvSpPr/>
          <p:nvPr/>
        </p:nvSpPr>
        <p:spPr>
          <a:xfrm>
            <a:off x="548640" y="1463040"/>
            <a:ext cx="2176272" cy="2971800"/>
          </a:xfrm>
          <a:prstGeom prst="rect">
            <a:avLst/>
          </a:prstGeom>
          <a:solidFill>
            <a:srgbClr val="EEF3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527048"/>
            <a:ext cx="1993392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4E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파트너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국민대 국제교류팀·GSGE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통신사(eSIM)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생필품 공급사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부동산·스터디카페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유학원, 서포터즈</a:t>
            </a:r>
            <a:endParaRPr lang="en-US" sz="1400" dirty="0"/>
          </a:p>
        </p:txBody>
      </p:sp>
      <p:sp>
        <p:nvSpPr>
          <p:cNvPr id="10" name="bmc"/>
          <p:cNvSpPr/>
          <p:nvPr/>
        </p:nvSpPr>
        <p:spPr>
          <a:xfrm>
            <a:off x="2770632" y="1463040"/>
            <a:ext cx="2176272" cy="1463040"/>
          </a:xfrm>
          <a:prstGeom prst="rect">
            <a:avLst/>
          </a:prstGeom>
          <a:solidFill>
            <a:srgbClr val="EEF3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62072" y="1527048"/>
            <a:ext cx="199339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4E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활동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개발·운영, 공공데이터 연동, 번역·감수, 제휴 영업, 현장 홍보</a:t>
            </a:r>
            <a:endParaRPr lang="en-US" sz="1400" dirty="0"/>
          </a:p>
        </p:txBody>
      </p:sp>
      <p:sp>
        <p:nvSpPr>
          <p:cNvPr id="12" name="bmc"/>
          <p:cNvSpPr/>
          <p:nvPr/>
        </p:nvSpPr>
        <p:spPr>
          <a:xfrm>
            <a:off x="2770632" y="2971800"/>
            <a:ext cx="2176272" cy="1463040"/>
          </a:xfrm>
          <a:prstGeom prst="rect">
            <a:avLst/>
          </a:prstGeom>
          <a:solidFill>
            <a:srgbClr val="EEF3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62072" y="3035808"/>
            <a:ext cx="199339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4E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자원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공공데이터 연동 웹, 다국어 콘텐츠, 소싱·유통 네트워크, 유학생 접점</a:t>
            </a:r>
            <a:endParaRPr lang="en-US" sz="1400" dirty="0"/>
          </a:p>
        </p:txBody>
      </p:sp>
      <p:sp>
        <p:nvSpPr>
          <p:cNvPr id="14" name="bmc"/>
          <p:cNvSpPr/>
          <p:nvPr/>
        </p:nvSpPr>
        <p:spPr>
          <a:xfrm>
            <a:off x="4992624" y="1463040"/>
            <a:ext cx="2176272" cy="2971800"/>
          </a:xfrm>
          <a:prstGeom prst="rect">
            <a:avLst/>
          </a:prstGeom>
          <a:solidFill>
            <a:srgbClr val="E0A0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84064" y="1527048"/>
            <a:ext cx="1993392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4E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가치 제안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학생: 한국어 몰라도 되는 실시간 정착 정보, 정착 시간 50%·비용 40% 절감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학부모: 학생이 정한 범위만 공유되는 안심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제휴처: 검증된 외국인 고객 유입</a:t>
            </a:r>
            <a:endParaRPr lang="en-US" sz="1400" dirty="0"/>
          </a:p>
        </p:txBody>
      </p:sp>
      <p:sp>
        <p:nvSpPr>
          <p:cNvPr id="16" name="bmc"/>
          <p:cNvSpPr/>
          <p:nvPr/>
        </p:nvSpPr>
        <p:spPr>
          <a:xfrm>
            <a:off x="7214616" y="1463040"/>
            <a:ext cx="2176272" cy="1463040"/>
          </a:xfrm>
          <a:prstGeom prst="rect">
            <a:avLst/>
          </a:prstGeom>
          <a:solidFill>
            <a:srgbClr val="EEF3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06056" y="1527048"/>
            <a:ext cx="199339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4E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관계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다국어 셀프서비스, 서포터즈 1:1 문의, 학부모 안부 알림</a:t>
            </a:r>
            <a:endParaRPr lang="en-US" sz="1400" dirty="0"/>
          </a:p>
        </p:txBody>
      </p:sp>
      <p:sp>
        <p:nvSpPr>
          <p:cNvPr id="18" name="bmc"/>
          <p:cNvSpPr/>
          <p:nvPr/>
        </p:nvSpPr>
        <p:spPr>
          <a:xfrm>
            <a:off x="7214616" y="2971800"/>
            <a:ext cx="2176272" cy="1463040"/>
          </a:xfrm>
          <a:prstGeom prst="rect">
            <a:avLst/>
          </a:prstGeom>
          <a:solidFill>
            <a:srgbClr val="EEF3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06056" y="3035808"/>
            <a:ext cx="199339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4E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채널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 웹, 포스터 QR, 입국 오리엔테이션, 유학생 커뮤니티, 유학원</a:t>
            </a:r>
            <a:endParaRPr lang="en-US" sz="1400" dirty="0"/>
          </a:p>
        </p:txBody>
      </p:sp>
      <p:sp>
        <p:nvSpPr>
          <p:cNvPr id="20" name="bmc"/>
          <p:cNvSpPr/>
          <p:nvPr/>
        </p:nvSpPr>
        <p:spPr>
          <a:xfrm>
            <a:off x="9436608" y="1463040"/>
            <a:ext cx="2176272" cy="2971800"/>
          </a:xfrm>
          <a:prstGeom prst="rect">
            <a:avLst/>
          </a:prstGeom>
          <a:solidFill>
            <a:srgbClr val="EEF3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528048" y="1527048"/>
            <a:ext cx="1993392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4E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세그먼트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국민대 외국인 유학생 약 2,000명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해외 학부모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귀국 예정 유학생(중고 공급)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제휴처</a:t>
            </a:r>
            <a:endParaRPr lang="en-US" sz="1400" dirty="0"/>
          </a:p>
        </p:txBody>
      </p:sp>
      <p:sp>
        <p:nvSpPr>
          <p:cNvPr id="22" name="bmc"/>
          <p:cNvSpPr/>
          <p:nvPr/>
        </p:nvSpPr>
        <p:spPr>
          <a:xfrm>
            <a:off x="548640" y="4480560"/>
            <a:ext cx="4398264" cy="1312164"/>
          </a:xfrm>
          <a:prstGeom prst="rect">
            <a:avLst/>
          </a:prstGeom>
          <a:solidFill>
            <a:srgbClr val="DDE7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4544568"/>
            <a:ext cx="4215384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4E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구조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호스팅·도메인·API(월 수만 원 이하), 번역·감수, 홍보물(포스터·QR), 패키지·키트 소싱 원가, PG 수수료 약 3%, 초기 인건비 무급</a:t>
            </a:r>
            <a:endParaRPr lang="en-US" sz="1400" dirty="0"/>
          </a:p>
        </p:txBody>
      </p:sp>
      <p:sp>
        <p:nvSpPr>
          <p:cNvPr id="24" name="bmc"/>
          <p:cNvSpPr/>
          <p:nvPr/>
        </p:nvSpPr>
        <p:spPr>
          <a:xfrm>
            <a:off x="4992624" y="4480560"/>
            <a:ext cx="6620256" cy="1312164"/>
          </a:xfrm>
          <a:prstGeom prst="rect">
            <a:avLst/>
          </a:prstGeom>
          <a:solidFill>
            <a:srgbClr val="DDE7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084064" y="4544568"/>
            <a:ext cx="6437376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4E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수익원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제휴 수수료(eSIM·생필품)  ② 정착 올인원 패키지  ③ 교재·렌탈 중개 수수료 10%  ④ 학부모 안심 구독 월 9,900~19,000원  ⑤ 유학원·기관 B2B 제휴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6576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4E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모델과 단위 경제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0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수익보다 거래·가입 데이터와 신뢰 확보가 1차 목표입니다. 규모는 타 대학 확장(Growth)에서 키웁니다.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0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PEV-1 중간보고서 · 팀명: 북악오룡이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0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1" name="rev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69494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194560"/>
                <a:gridCol w="192024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수익원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가정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계산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5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Quick Win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W9~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eSIM·생필품 제휴 수수료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가입당 수수료 3,000원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100건 → 30만 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Gold Mine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학기 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정착 올인원 패키지(공항 픽업·생필품 키트)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판매가 120,000원, 원가 85,000원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건당 이익 약 35,000원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Moon Shot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확장기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교재·가구 렌탈 중개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거래액 20,000원 × 수수료 10%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건당 2,000원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Moon Shot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확장기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학부모 안심 케어 구독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 9,900원, 유료 전환 10~20%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학부모 300명 → 월 30~60만 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tat"/>
          <p:cNvSpPr/>
          <p:nvPr/>
        </p:nvSpPr>
        <p:spPr>
          <a:xfrm>
            <a:off x="7772400" y="1508760"/>
            <a:ext cx="3840480" cy="3108960"/>
          </a:xfrm>
          <a:prstGeom prst="roundRect">
            <a:avLst>
              <a:gd name="adj" fmla="val 2353"/>
            </a:avLst>
          </a:prstGeom>
          <a:solidFill>
            <a:srgbClr val="134E5E"/>
          </a:solidFill>
          <a:ln w="12700">
            <a:solidFill>
              <a:srgbClr val="134E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01000" y="1645920"/>
            <a:ext cx="3383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0A0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이익 시나리오 (가정)</a:t>
            </a:r>
            <a:endParaRPr lang="en-US" sz="13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700만 원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200" dirty="0">
                <a:solidFill>
                  <a:srgbClr val="D6E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유학생 2,000명 중 15% 사용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200" dirty="0">
                <a:solidFill>
                  <a:srgbClr val="D6E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패키지 100건 + eSIM 200건 + 중개 300건 + 구독 월 20명</a:t>
            </a:r>
            <a:endParaRPr lang="en-US" sz="1300" dirty="0"/>
          </a:p>
        </p:txBody>
      </p:sp>
      <p:sp>
        <p:nvSpPr>
          <p:cNvPr id="11" name="card"/>
          <p:cNvSpPr/>
          <p:nvPr/>
        </p:nvSpPr>
        <p:spPr>
          <a:xfrm>
            <a:off x="548640" y="484632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EEF3F5"/>
          </a:solidFill>
          <a:ln w="9525">
            <a:solidFill>
              <a:srgbClr val="C9D6D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4937760"/>
            <a:ext cx="5212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4E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비용과 손익분기</a:t>
            </a:r>
            <a:endParaRPr lang="en-US" sz="15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고정비가 작아(도메인·호스팅 연 5만~15만 원) 패키지 약 10건 또는 구독 약 10명으로 연 고정비를 회수할 수 있습니다.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6217920" y="48463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EEF3F5"/>
          </a:solidFill>
          <a:ln w="9525">
            <a:solidFill>
              <a:srgbClr val="C9D6D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55080" y="4937760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4E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리스크와 대응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학생의 공유 꺼림 → 기본값 꺼짐, 언제든 해제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오류 → 캐시·대체 링크, 거래 사기 → 교내 인증·신고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4E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단계와 피드백 요청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0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중간발표 이후 W9~12 MVP 검증으로 넘어가기 위해, 지금 팀이 가장 확인하고 싶은 것을 적습니다.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0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PEV-1 중간보고서 · 팀명: 북악오룡이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0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card"/>
          <p:cNvSpPr/>
          <p:nvPr/>
        </p:nvSpPr>
        <p:spPr>
          <a:xfrm>
            <a:off x="548640" y="1463040"/>
            <a:ext cx="5486400" cy="2423160"/>
          </a:xfrm>
          <a:prstGeom prst="roundRect">
            <a:avLst>
              <a:gd name="adj" fmla="val 3019"/>
            </a:avLst>
          </a:prstGeom>
          <a:solidFill>
            <a:srgbClr val="EEF3F5"/>
          </a:solidFill>
          <a:ln w="9525">
            <a:solidFill>
              <a:srgbClr val="C9D6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554480"/>
            <a:ext cx="52120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4E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검증할 핵심 가설 (우선순위 3개)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고객: 유학생은 단순 공지보다 선배 교재 거래와 자취방 근처 학습·생활 공간 정보에 더 자주 재방문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가치: 사생활 통제권(온오프)을 주면 부모 연결(Family Link)을 수용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지불·채널: 학부모는 안전 확인·정착 패키지에, 학생은 렌탈·교재 거래에 지불 의향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6126480" y="1463040"/>
            <a:ext cx="5486400" cy="2423160"/>
          </a:xfrm>
          <a:prstGeom prst="roundRect">
            <a:avLst>
              <a:gd name="adj" fmla="val 3019"/>
            </a:avLst>
          </a:prstGeom>
          <a:solidFill>
            <a:srgbClr val="EEF3F5"/>
          </a:solidFill>
          <a:ln w="9525">
            <a:solidFill>
              <a:srgbClr val="C9D6D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63640" y="1554480"/>
            <a:ext cx="52120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4E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MVP 검증 계획 (초안)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방법: 구축된 웹사이트를 캠퍼스 현장 배포, 기능별 클릭률(CTR) 추적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대상·기간: 유학생 50명 + 학부모 30명 / W9~W11 (3주)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KPI: 가입·클릭 전환율 20%↑, 사전 신청(가상 결제) 5건↑, 안부 테스트 발송 완료율 70%↑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548640" y="4023360"/>
            <a:ext cx="5486400" cy="2240280"/>
          </a:xfrm>
          <a:prstGeom prst="roundRect">
            <a:avLst>
              <a:gd name="adj" fmla="val 3265"/>
            </a:avLst>
          </a:prstGeom>
          <a:solidFill>
            <a:srgbClr val="EEF3F5"/>
          </a:solidFill>
          <a:ln w="9525">
            <a:solidFill>
              <a:srgbClr val="C9D6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4114800"/>
            <a:ext cx="52120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4E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팀 동료들에게 받고 싶은 피드백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타깃 확장성: 국민대 생활권 MVP 기능 중 다른 대학으로 확장할 때 가장 매력적인 핵심 기능은?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수익화 현실성: 학생 대상 교재·렌탈 수수료와 학부모 대상 패키지·구독 중 어느 흐름이 더 현실적인가?</a:t>
            </a:r>
            <a:endParaRPr 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6126480" y="4023360"/>
            <a:ext cx="5486400" cy="2240280"/>
          </a:xfrm>
          <a:prstGeom prst="roundRect">
            <a:avLst>
              <a:gd name="adj" fmla="val 3265"/>
            </a:avLst>
          </a:prstGeom>
          <a:solidFill>
            <a:srgbClr val="EEF3F5"/>
          </a:solidFill>
          <a:ln w="9525">
            <a:solidFill>
              <a:srgbClr val="C9D6D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4114800"/>
            <a:ext cx="52120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4E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운영 회고 (간단히)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잘된 점: 노코드 웹과 포스터로 아이디어를 빠르게 실체화, 경력이 겹치지 않아 분업이 쉬움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아쉬운 점: 몽골어 등 번역 범위, 결제(PG) 연동 일정, 인터뷰 표본(3명)이 작음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 조정(W9~): 개발·웹 이주성·박은영 / 현장 인터뷰 원성희·김수경 / 제휴·소싱 단가 박은영·우명숙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PEV-1 중간보고서 · 북악오룡이 K-Link</dc:title>
  <dc:subject>PptxGenJS Presentation</dc:subject>
  <dc:creator>PptxGenJS</dc:creator>
  <cp:lastModifiedBy>PptxGenJS</cp:lastModifiedBy>
  <cp:revision>1</cp:revision>
  <dcterms:created xsi:type="dcterms:W3CDTF">2026-10-28T11:45:28Z</dcterms:created>
  <dcterms:modified xsi:type="dcterms:W3CDTF">2026-10-28T11:45:28Z</dcterms:modified>
</cp:coreProperties>
</file>